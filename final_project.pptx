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4"/>
  </p:notesMasterIdLst>
  <p:handoutMasterIdLst>
    <p:handoutMasterId r:id="rId15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D592"/>
    <a:srgbClr val="F5CDCE"/>
    <a:srgbClr val="EDF1F5"/>
    <a:srgbClr val="202C8F"/>
    <a:srgbClr val="FDFBF6"/>
    <a:srgbClr val="AAC4E9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388" autoAdjust="0"/>
  </p:normalViewPr>
  <p:slideViewPr>
    <p:cSldViewPr snapToGrid="0" snapToObjects="1">
      <p:cViewPr varScale="1">
        <p:scale>
          <a:sx n="82" d="100"/>
          <a:sy n="82" d="100"/>
        </p:scale>
        <p:origin x="643" y="6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Data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lorong</a:t>
            </a:r>
            <a:r>
              <a:rPr lang="en-US" dirty="0"/>
              <a:t> </a:t>
            </a:r>
            <a:r>
              <a:rPr lang="en-US" dirty="0" err="1"/>
              <a:t>pembuktian</a:t>
            </a:r>
            <a:r>
              <a:rPr lang="en-US" dirty="0"/>
              <a:t> dan </a:t>
            </a:r>
            <a:r>
              <a:rPr lang="en-US" dirty="0" err="1"/>
              <a:t>kebenaran</a:t>
            </a:r>
            <a:br>
              <a:rPr lang="en-US" dirty="0"/>
            </a:br>
            <a:r>
              <a:rPr lang="en-US" sz="1400" dirty="0" err="1">
                <a:latin typeface="Metropolis Thin" panose="00000500000000000000" pitchFamily="50" charset="0"/>
              </a:rPr>
              <a:t>Membangun</a:t>
            </a:r>
            <a:r>
              <a:rPr lang="en-US" sz="1400" dirty="0">
                <a:latin typeface="Metropolis Thin" panose="00000500000000000000" pitchFamily="50" charset="0"/>
              </a:rPr>
              <a:t> Model </a:t>
            </a:r>
            <a:r>
              <a:rPr lang="en-US" sz="1400" dirty="0" err="1">
                <a:latin typeface="Metropolis Thin" panose="00000500000000000000" pitchFamily="50" charset="0"/>
              </a:rPr>
              <a:t>Prediksi</a:t>
            </a:r>
            <a:r>
              <a:rPr lang="en-US" sz="1400" dirty="0">
                <a:latin typeface="Metropolis Thin" panose="00000500000000000000" pitchFamily="50" charset="0"/>
              </a:rPr>
              <a:t> </a:t>
            </a:r>
            <a:r>
              <a:rPr lang="en-US" sz="1400" dirty="0" err="1">
                <a:latin typeface="Metropolis Thin" panose="00000500000000000000" pitchFamily="50" charset="0"/>
              </a:rPr>
              <a:t>Risiko</a:t>
            </a:r>
            <a:r>
              <a:rPr lang="en-US" sz="1400" dirty="0">
                <a:latin typeface="Metropolis Thin" panose="00000500000000000000" pitchFamily="50" charset="0"/>
              </a:rPr>
              <a:t> </a:t>
            </a:r>
            <a:r>
              <a:rPr lang="en-US" sz="1400" dirty="0" err="1">
                <a:latin typeface="Metropolis Thin" panose="00000500000000000000" pitchFamily="50" charset="0"/>
              </a:rPr>
              <a:t>Kredit</a:t>
            </a:r>
            <a:endParaRPr lang="en-US" dirty="0">
              <a:latin typeface="Metropolis Thin" panose="000005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51127-4CCC-4900-84ED-0A6A430AB438}"/>
              </a:ext>
            </a:extLst>
          </p:cNvPr>
          <p:cNvSpPr txBox="1"/>
          <p:nvPr/>
        </p:nvSpPr>
        <p:spPr>
          <a:xfrm>
            <a:off x="3047223" y="5676084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d-ID" dirty="0">
                <a:solidFill>
                  <a:schemeClr val="bg1"/>
                </a:solidFill>
                <a:latin typeface="+mj-lt"/>
              </a:rPr>
              <a:t>by Ahmad Ramadhani</a:t>
            </a:r>
          </a:p>
          <a:p>
            <a:pPr algn="ctr"/>
            <a:r>
              <a:rPr lang="id-ID" dirty="0">
                <a:solidFill>
                  <a:schemeClr val="bg1"/>
                </a:solidFill>
                <a:latin typeface="+mj-lt"/>
              </a:rPr>
              <a:t>Final Project VIX ID/X Partners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59" y="163009"/>
            <a:ext cx="6583680" cy="1531357"/>
          </a:xfrm>
        </p:spPr>
        <p:txBody>
          <a:bodyPr/>
          <a:lstStyle/>
          <a:p>
            <a:r>
              <a:rPr lang="fi-FI" dirty="0"/>
              <a:t>Misi Kita: Mengapa Kita Butuh Model Ini?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59" y="2004215"/>
            <a:ext cx="6036906" cy="2166568"/>
          </a:xfrm>
          <a:solidFill>
            <a:schemeClr val="bg1">
              <a:lumMod val="90000"/>
            </a:schemeClr>
          </a:solidFill>
        </p:spPr>
        <p:txBody>
          <a:bodyPr>
            <a:normAutofit fontScale="85000" lnSpcReduction="10000"/>
          </a:bodyPr>
          <a:lstStyle/>
          <a:p>
            <a:r>
              <a:rPr lang="en-US" b="1" dirty="0" err="1">
                <a:solidFill>
                  <a:schemeClr val="tx1"/>
                </a:solidFill>
              </a:rPr>
              <a:t>Masalah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Bisnis</a:t>
            </a:r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dirty="0" err="1">
                <a:solidFill>
                  <a:schemeClr val="tx1"/>
                </a:solidFill>
              </a:rPr>
              <a:t>Setiap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pinjaman</a:t>
            </a:r>
            <a:r>
              <a:rPr lang="en-US" dirty="0">
                <a:solidFill>
                  <a:schemeClr val="tx1"/>
                </a:solidFill>
              </a:rPr>
              <a:t> 'Charged Off' (</a:t>
            </a:r>
            <a:r>
              <a:rPr lang="en-US" dirty="0" err="1">
                <a:solidFill>
                  <a:schemeClr val="tx1"/>
                </a:solidFill>
              </a:rPr>
              <a:t>Gagal</a:t>
            </a:r>
            <a:r>
              <a:rPr lang="en-US" dirty="0">
                <a:solidFill>
                  <a:schemeClr val="tx1"/>
                </a:solidFill>
              </a:rPr>
              <a:t> Bayar) </a:t>
            </a:r>
            <a:r>
              <a:rPr lang="en-US" dirty="0" err="1">
                <a:solidFill>
                  <a:schemeClr val="tx1"/>
                </a:solidFill>
              </a:rPr>
              <a:t>adalah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kerugian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finansial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langsung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bagi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perusahaan</a:t>
            </a:r>
            <a:r>
              <a:rPr lang="en-US" dirty="0">
                <a:solidFill>
                  <a:schemeClr val="tx1"/>
                </a:solidFill>
              </a:rPr>
              <a:t>. Kita </a:t>
            </a:r>
            <a:r>
              <a:rPr lang="en-US" dirty="0" err="1">
                <a:solidFill>
                  <a:schemeClr val="tx1"/>
                </a:solidFill>
              </a:rPr>
              <a:t>perlu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sistem</a:t>
            </a:r>
            <a:r>
              <a:rPr lang="en-US" dirty="0">
                <a:solidFill>
                  <a:schemeClr val="tx1"/>
                </a:solidFill>
              </a:rPr>
              <a:t> yang </a:t>
            </a:r>
            <a:r>
              <a:rPr lang="en-US" dirty="0" err="1">
                <a:solidFill>
                  <a:schemeClr val="tx1"/>
                </a:solidFill>
              </a:rPr>
              <a:t>dapat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memprediksi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risiko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sebelum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keputusan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pinjaman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diambil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14046A-4B65-49FA-A2DE-C65B1CB27F17}"/>
              </a:ext>
            </a:extLst>
          </p:cNvPr>
          <p:cNvSpPr txBox="1"/>
          <p:nvPr/>
        </p:nvSpPr>
        <p:spPr>
          <a:xfrm>
            <a:off x="615820" y="4303350"/>
            <a:ext cx="2911151" cy="1477328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id-ID" b="1" dirty="0"/>
              <a:t>Kerugian Finansial</a:t>
            </a:r>
            <a:endParaRPr lang="en-US" b="1" dirty="0"/>
          </a:p>
          <a:p>
            <a:endParaRPr lang="id-ID" b="1" dirty="0"/>
          </a:p>
          <a:p>
            <a:r>
              <a:rPr lang="id-ID" dirty="0"/>
              <a:t>Setiap pinjaman gagal bayar</a:t>
            </a:r>
            <a:r>
              <a:rPr lang="en-US" dirty="0"/>
              <a:t> </a:t>
            </a:r>
            <a:r>
              <a:rPr lang="id-ID" dirty="0"/>
              <a:t>berdampak</a:t>
            </a:r>
            <a:r>
              <a:rPr lang="en-US" dirty="0"/>
              <a:t> </a:t>
            </a:r>
            <a:r>
              <a:rPr lang="id-ID" dirty="0"/>
              <a:t>langsung pada profitabilitas perusahaan.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00356-EB15-4B78-87AC-35AFAD76CECA}"/>
              </a:ext>
            </a:extLst>
          </p:cNvPr>
          <p:cNvSpPr txBox="1"/>
          <p:nvPr/>
        </p:nvSpPr>
        <p:spPr>
          <a:xfrm>
            <a:off x="3722914" y="4305288"/>
            <a:ext cx="2911151" cy="1754326"/>
          </a:xfrm>
          <a:prstGeom prst="rect">
            <a:avLst/>
          </a:prstGeom>
          <a:solidFill>
            <a:schemeClr val="bg1">
              <a:lumMod val="90000"/>
            </a:schemeClr>
          </a:solidFill>
        </p:spPr>
        <p:txBody>
          <a:bodyPr wrap="square">
            <a:spAutoFit/>
          </a:bodyPr>
          <a:lstStyle/>
          <a:p>
            <a:r>
              <a:rPr lang="id-ID" b="1" dirty="0"/>
              <a:t>Sistem Peringatan Dini</a:t>
            </a:r>
            <a:endParaRPr lang="en-US" b="1" dirty="0"/>
          </a:p>
          <a:p>
            <a:endParaRPr lang="id-ID" b="1" dirty="0"/>
          </a:p>
          <a:p>
            <a:r>
              <a:rPr lang="id-ID" dirty="0"/>
              <a:t>Membangun deteksi risiko tinggi SEBELUM pinjaman disetujui untuk mencegah kerugian.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3109" y="641745"/>
            <a:ext cx="5723586" cy="2903887"/>
          </a:xfrm>
        </p:spPr>
        <p:txBody>
          <a:bodyPr/>
          <a:lstStyle/>
          <a:p>
            <a:r>
              <a:rPr lang="en-US" sz="2800" dirty="0" err="1"/>
              <a:t>Tantangan</a:t>
            </a:r>
            <a:r>
              <a:rPr lang="en-US" sz="2800" dirty="0"/>
              <a:t> </a:t>
            </a:r>
            <a:r>
              <a:rPr lang="en-US" sz="2800" dirty="0" err="1"/>
              <a:t>Tersembunyi</a:t>
            </a:r>
            <a:r>
              <a:rPr lang="en-US" sz="2800" dirty="0"/>
              <a:t>: </a:t>
            </a:r>
            <a:r>
              <a:rPr lang="en-US" sz="2800" dirty="0" err="1"/>
              <a:t>Menemukan</a:t>
            </a:r>
            <a:r>
              <a:rPr lang="en-US" sz="2800" dirty="0"/>
              <a:t> </a:t>
            </a:r>
            <a:r>
              <a:rPr lang="en-US" sz="2800" dirty="0" err="1"/>
              <a:t>Jarum</a:t>
            </a:r>
            <a:r>
              <a:rPr lang="en-US" sz="2800" dirty="0"/>
              <a:t> di </a:t>
            </a:r>
            <a:r>
              <a:rPr lang="en-US" sz="2800" dirty="0" err="1"/>
              <a:t>Tumpukan</a:t>
            </a:r>
            <a:r>
              <a:rPr lang="en-US" sz="2800" dirty="0"/>
              <a:t> Jerami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F9AE87-49CD-45C3-AC89-CC3D3C8BD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974" y="1173591"/>
            <a:ext cx="4832394" cy="49659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937627C-C529-461A-B57F-7DDA4F2BCC63}"/>
              </a:ext>
            </a:extLst>
          </p:cNvPr>
          <p:cNvSpPr txBox="1"/>
          <p:nvPr/>
        </p:nvSpPr>
        <p:spPr>
          <a:xfrm>
            <a:off x="5702441" y="4108219"/>
            <a:ext cx="3245616" cy="2031325"/>
          </a:xfrm>
          <a:prstGeom prst="rect">
            <a:avLst/>
          </a:prstGeom>
          <a:solidFill>
            <a:srgbClr val="F5CDCE"/>
          </a:solidFill>
        </p:spPr>
        <p:txBody>
          <a:bodyPr wrap="square">
            <a:spAutoFit/>
          </a:bodyPr>
          <a:lstStyle/>
          <a:p>
            <a:r>
              <a:rPr lang="id-ID" b="1" dirty="0"/>
              <a:t>Imbalanced Data</a:t>
            </a:r>
            <a:endParaRPr lang="en-US" b="1" dirty="0"/>
          </a:p>
          <a:p>
            <a:endParaRPr lang="id-ID" b="1" dirty="0"/>
          </a:p>
          <a:p>
            <a:r>
              <a:rPr lang="id-ID" dirty="0"/>
              <a:t>Kasus 'Charged Off' sangat langka dibanding 'Fully Paid'. Ini berbahaya karena model bisa 'malas' dan gagal mendeteksi risiko.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A4DB07-36D3-4C25-AE36-7A8D3C1F13B7}"/>
              </a:ext>
            </a:extLst>
          </p:cNvPr>
          <p:cNvSpPr txBox="1"/>
          <p:nvPr/>
        </p:nvSpPr>
        <p:spPr>
          <a:xfrm>
            <a:off x="9052130" y="4108219"/>
            <a:ext cx="2373897" cy="2031325"/>
          </a:xfrm>
          <a:prstGeom prst="rect">
            <a:avLst/>
          </a:prstGeom>
          <a:solidFill>
            <a:srgbClr val="F5CDCE"/>
          </a:solidFill>
        </p:spPr>
        <p:txBody>
          <a:bodyPr wrap="square">
            <a:spAutoFit/>
          </a:bodyPr>
          <a:lstStyle/>
          <a:p>
            <a:r>
              <a:rPr lang="id-ID" b="1" dirty="0"/>
              <a:t>Hidden Challenge</a:t>
            </a:r>
            <a:endParaRPr lang="en-US" b="1" dirty="0"/>
          </a:p>
          <a:p>
            <a:endParaRPr lang="id-ID" dirty="0"/>
          </a:p>
          <a:p>
            <a:r>
              <a:rPr lang="id-ID" dirty="0"/>
              <a:t>Menemukan pola dalam data yang sangat tidak seimbang memerlukan pendekatan khusus.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104" y="1057275"/>
            <a:ext cx="5259554" cy="1695256"/>
          </a:xfrm>
        </p:spPr>
        <p:txBody>
          <a:bodyPr/>
          <a:lstStyle/>
          <a:p>
            <a:r>
              <a:rPr lang="en-US" dirty="0" err="1"/>
              <a:t>Upaya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: Model Baseline (</a:t>
            </a:r>
            <a:r>
              <a:rPr lang="en-US" dirty="0" err="1"/>
              <a:t>Gagal</a:t>
            </a:r>
            <a:r>
              <a:rPr lang="en-US" dirty="0"/>
              <a:t> Total)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104" y="2857029"/>
            <a:ext cx="4189445" cy="427348"/>
          </a:xfrm>
        </p:spPr>
        <p:txBody>
          <a:bodyPr/>
          <a:lstStyle/>
          <a:p>
            <a:r>
              <a:rPr lang="en-US" dirty="0"/>
              <a:t>Baseline Model Performance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1A46F2-8087-4F81-B8C6-69776DE6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294" y="1151876"/>
            <a:ext cx="6182588" cy="464884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D5DFAD-7790-4FCE-BBAA-3552A75E5E43}"/>
              </a:ext>
            </a:extLst>
          </p:cNvPr>
          <p:cNvSpPr txBox="1"/>
          <p:nvPr/>
        </p:nvSpPr>
        <p:spPr>
          <a:xfrm>
            <a:off x="765104" y="3284377"/>
            <a:ext cx="47446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Model pertama memiliki Akurasi 85.8%, tapi ini menipu. Lihat matriks kebingungan - model ini gagal mendeteksi 6.054 kasus 'Charged Off'. Recall-nya hanya 5.19%. Model ini tidak berguna untuk bisnis.</a:t>
            </a:r>
            <a:endParaRPr lang="en-US" dirty="0"/>
          </a:p>
          <a:p>
            <a:endParaRPr lang="id-ID" dirty="0"/>
          </a:p>
          <a:p>
            <a:r>
              <a:rPr lang="en-US" dirty="0"/>
              <a:t>	</a:t>
            </a:r>
            <a:r>
              <a:rPr lang="id-ID" dirty="0"/>
              <a:t>False Negative: 6.054 kasus berisiko tidak </a:t>
            </a:r>
            <a:r>
              <a:rPr lang="en-US" dirty="0"/>
              <a:t>	</a:t>
            </a:r>
            <a:r>
              <a:rPr lang="id-ID" dirty="0"/>
              <a:t>terdeteksi!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705" y="1095413"/>
            <a:ext cx="5786072" cy="994164"/>
          </a:xfrm>
        </p:spPr>
        <p:txBody>
          <a:bodyPr/>
          <a:lstStyle/>
          <a:p>
            <a:r>
              <a:rPr lang="en-US" dirty="0"/>
              <a:t>Solusi: </a:t>
            </a:r>
            <a:r>
              <a:rPr lang="en-US" dirty="0" err="1"/>
              <a:t>Menggunakan</a:t>
            </a:r>
            <a:r>
              <a:rPr lang="en-US" dirty="0"/>
              <a:t> Teknik SMOTE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8704" y="2341168"/>
            <a:ext cx="2501696" cy="2175665"/>
          </a:xfrm>
          <a:solidFill>
            <a:srgbClr val="D2D592"/>
          </a:solidFill>
        </p:spPr>
        <p:txBody>
          <a:bodyPr/>
          <a:lstStyle/>
          <a:p>
            <a:pPr marL="0" indent="0">
              <a:buNone/>
            </a:pPr>
            <a:r>
              <a:rPr lang="en-US" b="1" dirty="0"/>
              <a:t>SMOTE Technology</a:t>
            </a:r>
          </a:p>
          <a:p>
            <a:pPr marL="0" indent="0">
              <a:buNone/>
            </a:pPr>
            <a:r>
              <a:rPr lang="en-US" dirty="0"/>
              <a:t>Synthetic Minority Over-sampling Technique </a:t>
            </a:r>
            <a:r>
              <a:rPr lang="en-US" dirty="0" err="1"/>
              <a:t>menciptakan</a:t>
            </a:r>
            <a:r>
              <a:rPr lang="en-US" dirty="0"/>
              <a:t> data </a:t>
            </a:r>
            <a:r>
              <a:rPr lang="en-US" dirty="0" err="1"/>
              <a:t>sintetis</a:t>
            </a:r>
            <a:r>
              <a:rPr lang="en-US" dirty="0"/>
              <a:t> 'Charged Off'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cerdas</a:t>
            </a:r>
            <a:r>
              <a:rPr lang="en-US" dirty="0"/>
              <a:t> untuk </a:t>
            </a:r>
            <a:r>
              <a:rPr lang="en-US" dirty="0" err="1"/>
              <a:t>melatih</a:t>
            </a:r>
            <a:r>
              <a:rPr lang="en-US" dirty="0"/>
              <a:t> model.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EB1E97-FF1E-4A51-B6D8-E573EE091F5D}"/>
              </a:ext>
            </a:extLst>
          </p:cNvPr>
          <p:cNvSpPr txBox="1">
            <a:spLocks/>
          </p:cNvSpPr>
          <p:nvPr/>
        </p:nvSpPr>
        <p:spPr>
          <a:xfrm>
            <a:off x="3334139" y="2341167"/>
            <a:ext cx="2501696" cy="2175665"/>
          </a:xfrm>
          <a:prstGeom prst="rect">
            <a:avLst/>
          </a:prstGeom>
          <a:solidFill>
            <a:srgbClr val="D2D592"/>
          </a:solidFill>
        </p:spPr>
        <p:txBody>
          <a:bodyPr vert="horz" lIns="91440" tIns="0" rIns="91440" bIns="0" rtlCol="0">
            <a:normAutofit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/>
              <a:t>Data </a:t>
            </a:r>
            <a:r>
              <a:rPr lang="en-US" b="1" dirty="0" err="1"/>
              <a:t>Seimbang</a:t>
            </a:r>
            <a:endParaRPr lang="en-US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/>
              <a:t>Sekarang</a:t>
            </a:r>
            <a:r>
              <a:rPr lang="en-US" dirty="0"/>
              <a:t> data training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distribusi</a:t>
            </a:r>
            <a:r>
              <a:rPr lang="en-US" dirty="0"/>
              <a:t> 50:50 </a:t>
            </a:r>
            <a:r>
              <a:rPr lang="en-US" dirty="0" err="1"/>
              <a:t>antara</a:t>
            </a:r>
            <a:r>
              <a:rPr lang="en-US" dirty="0"/>
              <a:t> 'Fully Paid' dan 'Charged Off'.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D54662-2123-470B-92D6-548FCE9DE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9198"/>
            <a:ext cx="5696355" cy="5781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1116759"/>
          </a:xfrm>
        </p:spPr>
        <p:txBody>
          <a:bodyPr/>
          <a:lstStyle/>
          <a:p>
            <a:pPr algn="r"/>
            <a:r>
              <a:rPr lang="en-US" dirty="0"/>
              <a:t>Hasil Akhir: Model yang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Peka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656166" y="2341802"/>
            <a:ext cx="4769861" cy="3023300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US" b="1" dirty="0"/>
              <a:t>Final Model Performance</a:t>
            </a:r>
          </a:p>
          <a:p>
            <a:pPr algn="r"/>
            <a:endParaRPr lang="en-US" b="1" dirty="0"/>
          </a:p>
          <a:p>
            <a:pPr algn="r"/>
            <a:r>
              <a:rPr lang="en-US" dirty="0"/>
              <a:t>Setelah </a:t>
            </a:r>
            <a:r>
              <a:rPr lang="en-US" dirty="0" err="1"/>
              <a:t>dilatih</a:t>
            </a:r>
            <a:r>
              <a:rPr lang="en-US" dirty="0"/>
              <a:t> </a:t>
            </a:r>
            <a:r>
              <a:rPr lang="en-US" dirty="0" err="1"/>
              <a:t>ulang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data SMOTE, </a:t>
            </a:r>
            <a:r>
              <a:rPr lang="en-US" dirty="0" err="1"/>
              <a:t>hasilnya</a:t>
            </a:r>
            <a:r>
              <a:rPr lang="en-US" dirty="0"/>
              <a:t> </a:t>
            </a:r>
            <a:r>
              <a:rPr lang="en-US" dirty="0" err="1"/>
              <a:t>luar</a:t>
            </a:r>
            <a:r>
              <a:rPr lang="en-US" dirty="0"/>
              <a:t> biasa.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'Charged Off' yang </a:t>
            </a:r>
            <a:r>
              <a:rPr lang="en-US" dirty="0" err="1"/>
              <a:t>berhasil</a:t>
            </a:r>
            <a:r>
              <a:rPr lang="en-US" dirty="0"/>
              <a:t> </a:t>
            </a:r>
            <a:r>
              <a:rPr lang="en-US" dirty="0" err="1"/>
              <a:t>ditangkap</a:t>
            </a:r>
            <a:r>
              <a:rPr lang="en-US" dirty="0"/>
              <a:t> </a:t>
            </a:r>
            <a:r>
              <a:rPr lang="en-US" dirty="0" err="1"/>
              <a:t>meningkat</a:t>
            </a:r>
            <a:r>
              <a:rPr lang="en-US" dirty="0"/>
              <a:t> </a:t>
            </a:r>
            <a:r>
              <a:rPr lang="en-US" dirty="0" err="1"/>
              <a:t>drastis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441 </a:t>
            </a:r>
            <a:r>
              <a:rPr lang="en-US" dirty="0" err="1"/>
              <a:t>menjadi</a:t>
            </a:r>
            <a:r>
              <a:rPr lang="en-US" dirty="0"/>
              <a:t> 1.847 </a:t>
            </a:r>
            <a:r>
              <a:rPr lang="en-US" dirty="0" err="1"/>
              <a:t>kasus</a:t>
            </a:r>
            <a:r>
              <a:rPr lang="en-US" dirty="0"/>
              <a:t>! Recall </a:t>
            </a:r>
            <a:r>
              <a:rPr lang="en-US" dirty="0" err="1"/>
              <a:t>meningkat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21.74%.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True Positive </a:t>
            </a:r>
            <a:r>
              <a:rPr lang="en-US" dirty="0" err="1"/>
              <a:t>meningkat</a:t>
            </a:r>
            <a:r>
              <a:rPr lang="en-US" dirty="0"/>
              <a:t> 319% - </a:t>
            </a:r>
            <a:r>
              <a:rPr lang="en-US" dirty="0" err="1"/>
              <a:t>deteksi</a:t>
            </a:r>
            <a:r>
              <a:rPr lang="en-US" dirty="0"/>
              <a:t> </a:t>
            </a:r>
            <a:r>
              <a:rPr lang="en-US" dirty="0" err="1"/>
              <a:t>risiko</a:t>
            </a:r>
            <a:r>
              <a:rPr lang="en-US" dirty="0"/>
              <a:t> </a:t>
            </a:r>
            <a:r>
              <a:rPr lang="en-US" dirty="0" err="1"/>
              <a:t>jauh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baik</a:t>
            </a:r>
            <a:r>
              <a:rPr lang="en-US" dirty="0"/>
              <a:t>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675AF-FA89-4138-935A-265AB5E88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47" y="2174034"/>
            <a:ext cx="5411755" cy="405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Bukti </a:t>
            </a:r>
            <a:r>
              <a:rPr lang="en-US" dirty="0" err="1"/>
              <a:t>Kemenangan</a:t>
            </a:r>
            <a:r>
              <a:rPr lang="en-US" dirty="0"/>
              <a:t>: </a:t>
            </a:r>
            <a:r>
              <a:rPr lang="en-US" dirty="0" err="1"/>
              <a:t>Perbandingan</a:t>
            </a:r>
            <a:r>
              <a:rPr lang="en-US" dirty="0"/>
              <a:t> Kinerja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328F02-B553-48BC-9B51-A43BCD4564C8}"/>
              </a:ext>
            </a:extLst>
          </p:cNvPr>
          <p:cNvSpPr txBox="1"/>
          <p:nvPr/>
        </p:nvSpPr>
        <p:spPr>
          <a:xfrm>
            <a:off x="914399" y="2057020"/>
            <a:ext cx="79310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600" dirty="0"/>
              <a:t>Ini adalah slide terpenting. Akurasi total memang turun, tapi Recall—kemampuan 'menangkap' risiko—meningkat secara dramatis. Ini adalah peningkatan performa yang signifikan untuk bisnis</a:t>
            </a:r>
            <a:r>
              <a:rPr lang="en-US" sz="1600" dirty="0"/>
              <a:t>.</a:t>
            </a:r>
            <a:endParaRPr lang="id-ID" sz="1600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AE7E2C84-61B7-4946-A588-34FADF4F3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829443"/>
              </p:ext>
            </p:extLst>
          </p:nvPr>
        </p:nvGraphicFramePr>
        <p:xfrm>
          <a:off x="717419" y="3420878"/>
          <a:ext cx="10708608" cy="212344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677152">
                  <a:extLst>
                    <a:ext uri="{9D8B030D-6E8A-4147-A177-3AD203B41FA5}">
                      <a16:colId xmlns:a16="http://schemas.microsoft.com/office/drawing/2014/main" val="212109158"/>
                    </a:ext>
                  </a:extLst>
                </a:gridCol>
                <a:gridCol w="2677152">
                  <a:extLst>
                    <a:ext uri="{9D8B030D-6E8A-4147-A177-3AD203B41FA5}">
                      <a16:colId xmlns:a16="http://schemas.microsoft.com/office/drawing/2014/main" val="2215397615"/>
                    </a:ext>
                  </a:extLst>
                </a:gridCol>
                <a:gridCol w="2677152">
                  <a:extLst>
                    <a:ext uri="{9D8B030D-6E8A-4147-A177-3AD203B41FA5}">
                      <a16:colId xmlns:a16="http://schemas.microsoft.com/office/drawing/2014/main" val="2252857221"/>
                    </a:ext>
                  </a:extLst>
                </a:gridCol>
                <a:gridCol w="2677152">
                  <a:extLst>
                    <a:ext uri="{9D8B030D-6E8A-4147-A177-3AD203B41FA5}">
                      <a16:colId xmlns:a16="http://schemas.microsoft.com/office/drawing/2014/main" val="39126331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Metrik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Model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Model Final (SMOTE)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Peningkatan</a:t>
                      </a:r>
                    </a:p>
                    <a:p>
                      <a:pPr algn="ctr"/>
                      <a:r>
                        <a:rPr lang="id-ID" dirty="0"/>
                        <a:t>Akurasi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120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 dirty="0"/>
                        <a:t>Akurasi</a:t>
                      </a:r>
                      <a:endParaRPr lang="id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85.8%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77.5%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-8.3%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610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/>
                        <a:t>Recall (Charged Off)</a:t>
                      </a:r>
                      <a:endParaRPr lang="id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5.19% 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21.74% 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+318.82%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0193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/>
                        <a:t>True Positive</a:t>
                      </a:r>
                      <a:endParaRPr lang="id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441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1,847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+319%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407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d-ID" b="1"/>
                        <a:t>False Negative</a:t>
                      </a:r>
                      <a:endParaRPr lang="id-ID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6,054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/>
                        <a:t>6,648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dirty="0"/>
                        <a:t>-9.8%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972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92943"/>
            <a:ext cx="7631709" cy="1091627"/>
          </a:xfrm>
        </p:spPr>
        <p:txBody>
          <a:bodyPr/>
          <a:lstStyle/>
          <a:p>
            <a:r>
              <a:rPr lang="en-US" dirty="0"/>
              <a:t>Kesimpulan: Model </a:t>
            </a:r>
            <a:r>
              <a:rPr lang="en-US" dirty="0" err="1"/>
              <a:t>Siap</a:t>
            </a:r>
            <a:r>
              <a:rPr lang="en-US" dirty="0"/>
              <a:t> </a:t>
            </a:r>
            <a:r>
              <a:rPr lang="en-US" dirty="0" err="1"/>
              <a:t>Bekerja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6E6E71-6A9A-41DE-A1D8-A03AF30BF8FD}"/>
              </a:ext>
            </a:extLst>
          </p:cNvPr>
          <p:cNvSpPr txBox="1"/>
          <p:nvPr/>
        </p:nvSpPr>
        <p:spPr>
          <a:xfrm>
            <a:off x="916804" y="2068504"/>
            <a:ext cx="10261269" cy="923330"/>
          </a:xfrm>
          <a:prstGeom prst="rect">
            <a:avLst/>
          </a:prstGeom>
          <a:solidFill>
            <a:srgbClr val="D2D592"/>
          </a:solidFill>
        </p:spPr>
        <p:txBody>
          <a:bodyPr wrap="square">
            <a:spAutoFit/>
          </a:bodyPr>
          <a:lstStyle/>
          <a:p>
            <a:r>
              <a:rPr lang="id-ID" dirty="0"/>
              <a:t>Pencapaian Utama</a:t>
            </a:r>
          </a:p>
          <a:p>
            <a:r>
              <a:rPr lang="id-ID" dirty="0"/>
              <a:t>Berhasil membangun model yang efektif mendeteksi risiko dengan peningkatan Recall sebesar +318.82% dari baseline.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A6DF1A-D774-48CB-BD0A-0E3B0267EBAD}"/>
              </a:ext>
            </a:extLst>
          </p:cNvPr>
          <p:cNvSpPr txBox="1"/>
          <p:nvPr/>
        </p:nvSpPr>
        <p:spPr>
          <a:xfrm>
            <a:off x="914400" y="3042480"/>
            <a:ext cx="4450702" cy="1477328"/>
          </a:xfrm>
          <a:prstGeom prst="rect">
            <a:avLst/>
          </a:prstGeom>
          <a:solidFill>
            <a:srgbClr val="F5CDCE"/>
          </a:solidFill>
        </p:spPr>
        <p:txBody>
          <a:bodyPr wrap="square">
            <a:spAutoFit/>
          </a:bodyPr>
          <a:lstStyle/>
          <a:p>
            <a:r>
              <a:rPr lang="id-ID" b="1" dirty="0"/>
              <a:t>Model Deployment</a:t>
            </a:r>
            <a:endParaRPr lang="en-US" b="1" dirty="0"/>
          </a:p>
          <a:p>
            <a:endParaRPr lang="id-ID" b="1" dirty="0"/>
          </a:p>
          <a:p>
            <a:r>
              <a:rPr lang="id-ID" dirty="0"/>
              <a:t>Model final disimpan sebagai model_final_rf.pkl, siap untuk diimplementasikan dalam sistem produksi.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D7A48-F443-4B53-A5D1-C2C089A158C6}"/>
              </a:ext>
            </a:extLst>
          </p:cNvPr>
          <p:cNvSpPr txBox="1"/>
          <p:nvPr/>
        </p:nvSpPr>
        <p:spPr>
          <a:xfrm>
            <a:off x="6484776" y="3037887"/>
            <a:ext cx="4693297" cy="1477328"/>
          </a:xfrm>
          <a:prstGeom prst="rect">
            <a:avLst/>
          </a:prstGeom>
          <a:solidFill>
            <a:srgbClr val="F5CDCE"/>
          </a:solidFill>
        </p:spPr>
        <p:txBody>
          <a:bodyPr wrap="square">
            <a:spAutoFit/>
          </a:bodyPr>
          <a:lstStyle/>
          <a:p>
            <a:r>
              <a:rPr lang="id-ID" b="1" dirty="0"/>
              <a:t>Business Impact</a:t>
            </a:r>
            <a:endParaRPr lang="en-US" b="1" dirty="0"/>
          </a:p>
          <a:p>
            <a:endParaRPr lang="id-ID" dirty="0"/>
          </a:p>
          <a:p>
            <a:r>
              <a:rPr lang="id-ID" dirty="0"/>
              <a:t>Implementasikan model ini untuk menyaring aplikasi pinjaman baru dan mengurangi kerugian finansial secara signifikan.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4EBCFA-6CEE-4C79-A8C7-378B3E68D82E}"/>
              </a:ext>
            </a:extLst>
          </p:cNvPr>
          <p:cNvSpPr txBox="1"/>
          <p:nvPr/>
        </p:nvSpPr>
        <p:spPr>
          <a:xfrm>
            <a:off x="607656" y="4800982"/>
            <a:ext cx="3003292" cy="1200329"/>
          </a:xfrm>
          <a:prstGeom prst="rect">
            <a:avLst/>
          </a:prstGeom>
          <a:solidFill>
            <a:srgbClr val="D2D592"/>
          </a:solidFill>
        </p:spPr>
        <p:txBody>
          <a:bodyPr wrap="square">
            <a:spAutoFit/>
          </a:bodyPr>
          <a:lstStyle/>
          <a:p>
            <a:r>
              <a:rPr lang="id-ID" b="1" dirty="0"/>
              <a:t>Risk Mitigation</a:t>
            </a:r>
            <a:endParaRPr lang="en-US" b="1" dirty="0"/>
          </a:p>
          <a:p>
            <a:endParaRPr lang="id-ID" dirty="0"/>
          </a:p>
          <a:p>
            <a:r>
              <a:rPr lang="id-ID" dirty="0"/>
              <a:t>Mencegah pinjaman berisiko tinggi sebelum disetujui.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ADE7E4-68DB-446E-86AF-B3D5F151C1B5}"/>
              </a:ext>
            </a:extLst>
          </p:cNvPr>
          <p:cNvSpPr txBox="1"/>
          <p:nvPr/>
        </p:nvSpPr>
        <p:spPr>
          <a:xfrm>
            <a:off x="4783299" y="4800980"/>
            <a:ext cx="2717728" cy="1200329"/>
          </a:xfrm>
          <a:prstGeom prst="rect">
            <a:avLst/>
          </a:prstGeom>
          <a:solidFill>
            <a:srgbClr val="D2D592"/>
          </a:solidFill>
        </p:spPr>
        <p:txBody>
          <a:bodyPr wrap="square">
            <a:spAutoFit/>
          </a:bodyPr>
          <a:lstStyle/>
          <a:p>
            <a:r>
              <a:rPr lang="id-ID" b="1" dirty="0"/>
              <a:t>Financial Protection</a:t>
            </a:r>
            <a:endParaRPr lang="en-US" b="1" dirty="0"/>
          </a:p>
          <a:p>
            <a:endParaRPr lang="id-ID" dirty="0"/>
          </a:p>
          <a:p>
            <a:r>
              <a:rPr lang="id-ID" dirty="0"/>
              <a:t>Mengurangi kerugian dari pinjaman gagal bayar.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44CC39-465C-4A3D-A019-317EA6EB6693}"/>
              </a:ext>
            </a:extLst>
          </p:cNvPr>
          <p:cNvSpPr txBox="1"/>
          <p:nvPr/>
        </p:nvSpPr>
        <p:spPr>
          <a:xfrm>
            <a:off x="8673379" y="4800981"/>
            <a:ext cx="2717729" cy="1200329"/>
          </a:xfrm>
          <a:prstGeom prst="rect">
            <a:avLst/>
          </a:prstGeom>
          <a:solidFill>
            <a:srgbClr val="D2D592"/>
          </a:solidFill>
        </p:spPr>
        <p:txBody>
          <a:bodyPr wrap="square">
            <a:spAutoFit/>
          </a:bodyPr>
          <a:lstStyle/>
          <a:p>
            <a:r>
              <a:rPr lang="id-ID" b="1" dirty="0"/>
              <a:t>Production Ready</a:t>
            </a:r>
            <a:endParaRPr lang="en-US" b="1" dirty="0"/>
          </a:p>
          <a:p>
            <a:endParaRPr lang="id-ID" dirty="0"/>
          </a:p>
          <a:p>
            <a:r>
              <a:rPr lang="id-ID" dirty="0"/>
              <a:t>Model telah siap untuk deployment dan integrasi.</a:t>
            </a:r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421" y="2182044"/>
            <a:ext cx="7843837" cy="1012782"/>
          </a:xfrm>
        </p:spPr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Kasih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87421" y="3456562"/>
            <a:ext cx="6903076" cy="2249540"/>
          </a:xfrm>
        </p:spPr>
        <p:txBody>
          <a:bodyPr>
            <a:normAutofit/>
          </a:bodyPr>
          <a:lstStyle/>
          <a:p>
            <a:r>
              <a:rPr lang="en-US" sz="1400" dirty="0">
                <a:latin typeface="Metropolis Thin" panose="00000500000000000000" pitchFamily="50" charset="0"/>
              </a:rPr>
              <a:t>Ahmad </a:t>
            </a:r>
            <a:r>
              <a:rPr lang="en-US" sz="1400" dirty="0" err="1">
                <a:latin typeface="Metropolis Thin" panose="00000500000000000000" pitchFamily="50" charset="0"/>
              </a:rPr>
              <a:t>Ramadhani</a:t>
            </a:r>
            <a:r>
              <a:rPr lang="en-US" sz="1400" dirty="0">
                <a:latin typeface="Metropolis Thin" panose="00000500000000000000" pitchFamily="50" charset="0"/>
              </a:rPr>
              <a:t> | Data Science Portfolio</a:t>
            </a:r>
          </a:p>
          <a:p>
            <a:r>
              <a:rPr lang="en-US" sz="1400" dirty="0">
                <a:latin typeface="Metropolis Thin" panose="00000500000000000000" pitchFamily="50" charset="0"/>
              </a:rPr>
              <a:t>Contact: ahramadhani9090@gmail.com</a:t>
            </a:r>
          </a:p>
          <a:p>
            <a:endParaRPr lang="en-US" sz="1400" dirty="0">
              <a:latin typeface="Metropolis Thin" panose="00000500000000000000" pitchFamily="50" charset="0"/>
            </a:endParaRPr>
          </a:p>
          <a:p>
            <a:r>
              <a:rPr lang="en-US" sz="1400" dirty="0">
                <a:latin typeface="Metropolis Thin" panose="00000500000000000000" pitchFamily="50" charset="0"/>
              </a:rPr>
              <a:t>Ready to bring data-driven insights to your organization!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{F1B8DAAE-2361-4868-A807-F7A4C44D1979}TF8a9b5915-b8c7-461e-8cdd-693d48b5e32371f7b7e2_win32-4bf0b9a2ea37</Template>
  <TotalTime>35</TotalTime>
  <Words>487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Black</vt:lpstr>
      <vt:lpstr>Calibri</vt:lpstr>
      <vt:lpstr>Metropolis Thin</vt:lpstr>
      <vt:lpstr>Sabon Next LT</vt:lpstr>
      <vt:lpstr>Custom</vt:lpstr>
      <vt:lpstr>Data adalah lorong pembuktian dan kebenaran Membangun Model Prediksi Risiko Kredit</vt:lpstr>
      <vt:lpstr>Misi Kita: Mengapa Kita Butuh Model Ini?</vt:lpstr>
      <vt:lpstr>Tantangan Tersembunyi: Menemukan Jarum di Tumpukan Jerami</vt:lpstr>
      <vt:lpstr>Upaya Pertama: Model Baseline (Gagal Total)</vt:lpstr>
      <vt:lpstr>Solusi: Menggunakan Teknik SMOTE</vt:lpstr>
      <vt:lpstr>Hasil Akhir: Model yang Jauh Lebih Peka</vt:lpstr>
      <vt:lpstr>Bukti Kemenangan: Perbandingan Kinerja</vt:lpstr>
      <vt:lpstr>Kesimpulan: Model Siap Bekerja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adalah lorong pembuktian dan kebenaran Membangun Model Prediksi Risiko Kredit</dc:title>
  <dc:subject/>
  <dc:creator>dhanizaezee@gmail.com</dc:creator>
  <cp:lastModifiedBy>dhanizaezee@gmail.com</cp:lastModifiedBy>
  <cp:revision>1</cp:revision>
  <dcterms:created xsi:type="dcterms:W3CDTF">2025-11-03T05:04:22Z</dcterms:created>
  <dcterms:modified xsi:type="dcterms:W3CDTF">2025-11-03T05:39:25Z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